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5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4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C980-A476-2DC7-3448-58393AFB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17DA0-C4B1-714B-B54E-12A0CE50C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64567-726C-A3BE-B88D-B7D1A8AF8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F4F39-C2FF-A56D-C120-1BA3CED98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14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6485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 &amp; PROJECT PRESENTATION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002227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54727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FD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Faysal Hossain Piyal · Albaraa Sait · Abdullah Bawazir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58"/>
            <a:ext cx="353419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UN SDGs &amp; Saudi Vision 2030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to be Solved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"Local cafés in Jeddah have empty tables during off-peak hours and cannot afford effective advertising, while people who enjoy board games have no reliable, safe and Arabic-friendly way to find and join organized game nights."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364740"/>
            <a:ext cx="10883392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4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Tawlatna is an event-management mobile platform that connects cafés seeking more foot traffic with people looking for board-game events.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979279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4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Affected stakeholders: Café owners · Casual players · Cashiers · Platform operators (Developer/Admin)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3467523"/>
            <a:ext cx="10560050" cy="540808"/>
          </a:xfrm>
          <a:prstGeom prst="roundRect">
            <a:avLst>
              <a:gd name="adj" fmla="val 1820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1644" y="3622393"/>
            <a:ext cx="172270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SDGs &amp; Vision 2030: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4347" y="3622393"/>
            <a:ext cx="840000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8 Economic Growth · SDG 11 Sustainable Communities · Vision 2030 Quality of Life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58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8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Study — Feasibility (1/2)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12800" y="1490311"/>
            <a:ext cx="10883392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688395"/>
            <a:ext cx="1088339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Relies on proven technology: Flutter mobile app (iOS and Android), cloud hosting in Saudi-region data centers, payment-gateway integration, and offline-cached QR codes. Low technical risk.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269948"/>
            <a:ext cx="10883392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468034"/>
            <a:ext cx="1088339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founding team of four growing to nine by the end of Year 1. No venues, inventory or major facilities are needed because the model is asset-light.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049588"/>
            <a:ext cx="10883392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Regulatory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247673"/>
            <a:ext cx="1088339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with SDAIA data-protection rules, ZATCA e-invoicing, SAMA guidelines for digital-wallet transactions, and commercial registration and licensing.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58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8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Study — Feasibility (2/2)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12800" y="1490311"/>
            <a:ext cx="10883392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688395"/>
            <a:ext cx="1088339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and TikTok campaigns, on-table QR standees in partner cafés, micro-influencers and referral incentives: low-cost channels that suit a mobile-first audience.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269948"/>
            <a:ext cx="10883392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468034"/>
            <a:ext cx="1137920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of SAR 250,000; break-even in Month 10; Year 3 net profit margin above 32%; about 144% return on investment over three years.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936610"/>
            <a:ext cx="10566400" cy="1066624"/>
          </a:xfrm>
          <a:prstGeom prst="roundRect">
            <a:avLst>
              <a:gd name="adj" fmla="val 9525"/>
            </a:avLst>
          </a:prstGeom>
          <a:solidFill>
            <a:srgbClr val="0F2E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16000" y="3114410"/>
            <a:ext cx="10464800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3363295"/>
            <a:ext cx="10464800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with the project.</a:t>
            </a:r>
            <a:r>
              <a:rPr lang="en-US" sz="14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market study confirms strong demand for accessible, organized social entertainment in Jeddah that pairs coffee culture with board gaming.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58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357674"/>
            <a:ext cx="134186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5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1168400"/>
            <a:ext cx="10972800" cy="4876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Tawlatna Business Model Canvas"/>
          <p:cNvPicPr>
            <a:picLocks noChangeAspect="1"/>
          </p:cNvPicPr>
          <p:nvPr/>
        </p:nvPicPr>
        <p:blipFill>
          <a:blip r:embed="rId3"/>
          <a:srcRect l="-904" r="-904"/>
          <a:stretch/>
        </p:blipFill>
        <p:spPr>
          <a:xfrm>
            <a:off x="-147782" y="0"/>
            <a:ext cx="12484343" cy="66710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698500" y="698500"/>
            <a:ext cx="11118850" cy="448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01675" y="1328384"/>
            <a:ext cx="3490383" cy="457394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1944" y="1508655"/>
            <a:ext cx="322374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— Casual Player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1944" y="1798197"/>
            <a:ext cx="3223740" cy="1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24 · Bachelor's in Supply Chain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81944" y="2043289"/>
            <a:ext cx="3223740" cy="339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05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fun, affordable social activities and meet like-minded people who enjoy the same hobby.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1944" y="2605827"/>
            <a:ext cx="3223740" cy="49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05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points: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Organized social game nights are hard to find nearby; coordinating group outings through WhatsApp chats is messy.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0808" y="1328384"/>
            <a:ext cx="3490383" cy="457394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31078" y="1508655"/>
            <a:ext cx="322374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Layla — Café Owner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1078" y="1798197"/>
            <a:ext cx="3223740" cy="1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36 · Bachelor's in Business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31078" y="2043289"/>
            <a:ext cx="3223740" cy="339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05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Increase foot traffic and drink sales during slow mid-week evenings without paying high advertising costs.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31078" y="2605827"/>
            <a:ext cx="3223740" cy="49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05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points: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Empty tables on Tuesday and Wednesday evenings; high cost of social media ads; no organized way to host and manage events.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99942" y="1328384"/>
            <a:ext cx="3490383" cy="457394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0212" y="1508655"/>
            <a:ext cx="322374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— Cashier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0212" y="1798197"/>
            <a:ext cx="3223740" cy="1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26 · Diploma in Hospitality Management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80212" y="2043289"/>
            <a:ext cx="3223740" cy="49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05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in players quickly with the QR scanner ; log F&amp;B transaction amounts accurately; apply loyalty rewards without slowing service.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80212" y="2589919"/>
            <a:ext cx="3223740" cy="495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05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points: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 logging is slow and error-prone; unclear instructions during peak hours; customers asking about loyalty points.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8500" y="6238258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Elicitation Methods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55750"/>
            <a:ext cx="53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(SMART)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58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7 / 12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392000" y="1555750"/>
            <a:ext cx="53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&amp; business rules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15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REQ-1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shall allow a casual player to reserve </a:t>
            </a:r>
            <a:r>
              <a:rPr lang="en-US" sz="1400" b="0" dirty="0" err="1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upto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seats for a selected board game event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271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REQ-2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shall generate a unique QR code linked to the reserved seat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12800" y="327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REQ-3  </a:t>
            </a:r>
            <a:r>
              <a:rPr lang="en-US" dirty="0"/>
              <a:t>The system shall display the QR code in the player's mobile app and allow offline access.</a:t>
            </a:r>
          </a:p>
        </p:txBody>
      </p:sp>
      <p:sp>
        <p:nvSpPr>
          <p:cNvPr id="9" name="Text 2"/>
          <p:cNvSpPr/>
          <p:nvPr/>
        </p:nvSpPr>
        <p:spPr>
          <a:xfrm>
            <a:off x="812800" y="383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REQ-6 </a:t>
            </a:r>
            <a:r>
              <a:rPr lang="en-US" dirty="0"/>
              <a:t>The system shall allow the café owner to create a recurring event with a start date, end date and recurrence pattern</a:t>
            </a:r>
          </a:p>
        </p:txBody>
      </p:sp>
      <p:sp>
        <p:nvSpPr>
          <p:cNvPr id="10" name="Text 2"/>
          <p:cNvSpPr/>
          <p:nvPr/>
        </p:nvSpPr>
        <p:spPr>
          <a:xfrm>
            <a:off x="812800" y="439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REQ-8  </a:t>
            </a:r>
            <a:r>
              <a:rPr lang="en-US" dirty="0"/>
              <a:t>The system shall display the event to players after it is created or updated. 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812800" y="495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REQ-12  </a:t>
            </a:r>
            <a:r>
              <a:rPr lang="en-US" dirty="0"/>
              <a:t>The system shall allow the cashier to scan a player's QR code with the tablet camera. </a:t>
            </a:r>
          </a:p>
        </p:txBody>
      </p:sp>
      <p:sp>
        <p:nvSpPr>
          <p:cNvPr id="12" name="Text 2"/>
          <p:cNvSpPr/>
          <p:nvPr/>
        </p:nvSpPr>
        <p:spPr>
          <a:xfrm>
            <a:off x="6392000" y="215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NFR-1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response time under 3 seconds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6392000" y="271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NFR-2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should be unique per reservation</a:t>
            </a:r>
            <a:endParaRPr lang="en-US" sz="1600" dirty="0"/>
          </a:p>
        </p:txBody>
      </p:sp>
      <p:sp>
        <p:nvSpPr>
          <p:cNvPr id="14" name="Text 2"/>
          <p:cNvSpPr/>
          <p:nvPr/>
        </p:nvSpPr>
        <p:spPr>
          <a:xfrm>
            <a:off x="6392000" y="327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NFR-4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logging in under 20 seconds end to end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6392000" y="383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NFR-6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 shall store </a:t>
            </a:r>
            <a:r>
              <a:rPr lang="en-US" sz="1400" b="0" dirty="0" err="1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atleast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caches 100+ transactions</a:t>
            </a:r>
            <a:endParaRPr lang="en-US" sz="1600" dirty="0"/>
          </a:p>
        </p:txBody>
      </p:sp>
      <p:sp>
        <p:nvSpPr>
          <p:cNvPr id="16" name="Text 2"/>
          <p:cNvSpPr/>
          <p:nvPr/>
        </p:nvSpPr>
        <p:spPr>
          <a:xfrm>
            <a:off x="6392000" y="439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BR-3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commission on F&amp;B sales only; café keeps 85%</a:t>
            </a:r>
            <a:endParaRPr lang="en-US" sz="1600" dirty="0"/>
          </a:p>
        </p:txBody>
      </p:sp>
      <p:sp>
        <p:nvSpPr>
          <p:cNvPr id="17" name="Text 2"/>
          <p:cNvSpPr/>
          <p:nvPr/>
        </p:nvSpPr>
        <p:spPr>
          <a:xfrm>
            <a:off x="6392000" y="4950000"/>
            <a:ext cx="53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BR-4  </a:t>
            </a:r>
            <a:r>
              <a:rPr lang="en-US" sz="140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ratio: 1 point per 1 SAR spent</a:t>
            </a:r>
            <a:endParaRPr lang="en-US" sz="1600" dirty="0"/>
          </a:p>
        </p:txBody>
      </p:sp>
      <p:sp>
        <p:nvSpPr>
          <p:cNvPr id="18" name="Text 1"/>
          <p:cNvSpPr/>
          <p:nvPr/>
        </p:nvSpPr>
        <p:spPr>
          <a:xfrm>
            <a:off x="812800" y="5600000"/>
            <a:ext cx="10883392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SMART requirements (REQ-1 to REQ-15) · 8 non-functional requirements · 5 business rules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Elicitation Methods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5575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Methods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61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8 /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0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&amp; competitor analysis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compared SeatUp, Meeple Match and OpenTable → gaps to fill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25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review analysis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Google Play, App Store and forums → pain points and features to keep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30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Model Canvas analysis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core scope: café events, commission model, loyalty rewards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12800" y="35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Stakeholder &amp; persona analysis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 actors, 3 personas with goals and pain points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812800" y="40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Scenarios &amp; user stories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scenario per persona; 10 core user stories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812800" y="45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 requirement transformation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stories converted into REQ-1 to REQ-15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812800" y="5000000"/>
            <a:ext cx="10883392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5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Use-case modeling</a:t>
            </a:r>
            <a:r>
              <a:rPr lang="en-US" sz="15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18 use cases, business rules, non-functional requirements</a:t>
            </a:r>
            <a:endParaRPr lang="en-US" sz="1600" dirty="0"/>
          </a:p>
        </p:txBody>
      </p:sp>
      <p:sp>
        <p:nvSpPr>
          <p:cNvPr id="12" name="Text 1"/>
          <p:cNvSpPr/>
          <p:nvPr/>
        </p:nvSpPr>
        <p:spPr>
          <a:xfrm>
            <a:off x="812800" y="5600000"/>
            <a:ext cx="10883392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0" dirty="0">
                <a:solidFill>
                  <a:srgbClr val="4A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still recommended: interviews or surveys with café owners and cashiers, prototype walkthrough, peer review.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9120" y="1459640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Titles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12800" y="6238261"/>
            <a:ext cx="146388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9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9120" y="2146840"/>
            <a:ext cx="2593348" cy="188000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9120" y="2296840"/>
            <a:ext cx="227334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Gamer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739120" y="272676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UC-1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Must</a:t>
            </a:r>
            <a:endParaRPr lang="en-US" sz="14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2E2F"/>
                </a:solidFill>
                <a:latin typeface="Arial" pitchFamily="34" charset="0"/>
                <a:cs typeface="Arial" pitchFamily="34" charset="-120"/>
              </a:rPr>
              <a:t>Browse and Reservation</a:t>
            </a:r>
            <a:endParaRPr lang="en-US" sz="1400" b="1" dirty="0"/>
          </a:p>
        </p:txBody>
      </p:sp>
      <p:sp>
        <p:nvSpPr>
          <p:cNvPr id="7" name="Text 1"/>
          <p:cNvSpPr/>
          <p:nvPr/>
        </p:nvSpPr>
        <p:spPr>
          <a:xfrm>
            <a:off x="739120" y="338676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UC-5</a:t>
            </a:r>
            <a:r>
              <a:rPr lang="en-US" sz="105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Must</a:t>
            </a:r>
            <a:endParaRPr lang="en-US" sz="14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Points</a:t>
            </a:r>
            <a:endParaRPr lang="en-US" sz="1400" b="1" dirty="0"/>
          </a:p>
        </p:txBody>
      </p:sp>
      <p:sp>
        <p:nvSpPr>
          <p:cNvPr id="11" name="Shape 1"/>
          <p:cNvSpPr/>
          <p:nvPr/>
        </p:nvSpPr>
        <p:spPr>
          <a:xfrm>
            <a:off x="3342468" y="2146840"/>
            <a:ext cx="2593348" cy="188000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2"/>
          <p:cNvSpPr/>
          <p:nvPr/>
        </p:nvSpPr>
        <p:spPr>
          <a:xfrm>
            <a:off x="3502468" y="2296840"/>
            <a:ext cx="227334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Owner</a:t>
            </a:r>
            <a:endParaRPr lang="en-US" sz="1400" dirty="0"/>
          </a:p>
        </p:txBody>
      </p:sp>
      <p:sp>
        <p:nvSpPr>
          <p:cNvPr id="13" name="Text 1"/>
          <p:cNvSpPr/>
          <p:nvPr/>
        </p:nvSpPr>
        <p:spPr>
          <a:xfrm>
            <a:off x="3502468" y="270684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UC-2</a:t>
            </a:r>
            <a:r>
              <a:rPr lang="en-US" sz="105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Must</a:t>
            </a:r>
            <a:endParaRPr lang="en-US" sz="14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Board Game Event</a:t>
            </a:r>
            <a:endParaRPr lang="en-US" sz="1400" b="1" dirty="0"/>
          </a:p>
        </p:txBody>
      </p:sp>
      <p:sp>
        <p:nvSpPr>
          <p:cNvPr id="14" name="Text 1"/>
          <p:cNvSpPr/>
          <p:nvPr/>
        </p:nvSpPr>
        <p:spPr>
          <a:xfrm>
            <a:off x="3502468" y="336684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1400" b="1" dirty="0"/>
          </a:p>
        </p:txBody>
      </p:sp>
      <p:sp>
        <p:nvSpPr>
          <p:cNvPr id="17" name="Shape 1"/>
          <p:cNvSpPr/>
          <p:nvPr/>
        </p:nvSpPr>
        <p:spPr>
          <a:xfrm>
            <a:off x="6105816" y="2146840"/>
            <a:ext cx="2593348" cy="188000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"/>
          <p:cNvSpPr/>
          <p:nvPr/>
        </p:nvSpPr>
        <p:spPr>
          <a:xfrm>
            <a:off x="6265816" y="2296840"/>
            <a:ext cx="227334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</a:t>
            </a:r>
            <a:endParaRPr lang="en-US" sz="1400" dirty="0"/>
          </a:p>
        </p:txBody>
      </p:sp>
      <p:sp>
        <p:nvSpPr>
          <p:cNvPr id="19" name="Text 1"/>
          <p:cNvSpPr/>
          <p:nvPr/>
        </p:nvSpPr>
        <p:spPr>
          <a:xfrm>
            <a:off x="6265816" y="270684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UC-8</a:t>
            </a:r>
            <a:r>
              <a:rPr lang="en-US" sz="105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Must</a:t>
            </a:r>
            <a:endParaRPr lang="en-US" sz="14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&amp; Check-In Player</a:t>
            </a:r>
            <a:endParaRPr lang="en-US" sz="1400" b="1" dirty="0"/>
          </a:p>
        </p:txBody>
      </p:sp>
      <p:sp>
        <p:nvSpPr>
          <p:cNvPr id="20" name="Text 1"/>
          <p:cNvSpPr/>
          <p:nvPr/>
        </p:nvSpPr>
        <p:spPr>
          <a:xfrm>
            <a:off x="6265816" y="336684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UC-9</a:t>
            </a:r>
            <a:r>
              <a:rPr lang="en-US" sz="105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Must</a:t>
            </a:r>
            <a:endParaRPr lang="en-US" sz="14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F&amp;B Transaction</a:t>
            </a:r>
            <a:endParaRPr lang="en-US" sz="1400" b="1" dirty="0"/>
          </a:p>
        </p:txBody>
      </p:sp>
      <p:sp>
        <p:nvSpPr>
          <p:cNvPr id="23" name="Shape 1"/>
          <p:cNvSpPr/>
          <p:nvPr/>
        </p:nvSpPr>
        <p:spPr>
          <a:xfrm>
            <a:off x="8869164" y="2146840"/>
            <a:ext cx="2593348" cy="1137840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6350">
            <a:solidFill>
              <a:srgbClr val="CFD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"/>
          <p:cNvSpPr/>
          <p:nvPr/>
        </p:nvSpPr>
        <p:spPr>
          <a:xfrm>
            <a:off x="9029164" y="2296840"/>
            <a:ext cx="227334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/ Admin</a:t>
            </a:r>
            <a:endParaRPr lang="en-US" sz="1400" dirty="0"/>
          </a:p>
        </p:txBody>
      </p:sp>
      <p:sp>
        <p:nvSpPr>
          <p:cNvPr id="27" name="Text 1"/>
          <p:cNvSpPr/>
          <p:nvPr/>
        </p:nvSpPr>
        <p:spPr>
          <a:xfrm>
            <a:off x="9029164" y="2724680"/>
            <a:ext cx="227334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UC-16</a:t>
            </a:r>
            <a:r>
              <a:rPr lang="en-US" sz="1050" b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Must</a:t>
            </a:r>
            <a:endParaRPr lang="en-US" sz="14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User Accounts</a:t>
            </a:r>
            <a:endParaRPr lang="en-US" sz="1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540495"/>
            <a:ext cx="10553700" cy="4295158"/>
          </a:xfrm>
          <a:prstGeom prst="roundRect">
            <a:avLst>
              <a:gd name="adj" fmla="val 2218"/>
            </a:avLst>
          </a:prstGeom>
          <a:noFill/>
          <a:ln w="12700">
            <a:solidFill>
              <a:srgbClr val="CFD8D7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6238261"/>
            <a:ext cx="15655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10 / 12</a:t>
            </a:r>
            <a:endParaRPr lang="en-US" sz="1200" dirty="0"/>
          </a:p>
        </p:txBody>
      </p:sp>
      <p:pic>
        <p:nvPicPr>
          <p:cNvPr id="5" name="Picture 4" descr="ctxraw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130" y="1640495"/>
            <a:ext cx="7481739" cy="40951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FDDED-73D3-EC2F-5BAA-7D2A84A7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F9301E-1206-AD37-B512-624FC7EE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9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F2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48AA33-534E-173F-A857-92FE35D6FA9E}"/>
              </a:ext>
            </a:extLst>
          </p:cNvPr>
          <p:cNvSpPr/>
          <p:nvPr/>
        </p:nvSpPr>
        <p:spPr>
          <a:xfrm>
            <a:off x="812800" y="1534145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done, and by whom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101A9C1-AD89-9274-981D-47E24F4EDA08}"/>
              </a:ext>
            </a:extLst>
          </p:cNvPr>
          <p:cNvSpPr/>
          <p:nvPr/>
        </p:nvSpPr>
        <p:spPr>
          <a:xfrm>
            <a:off x="812800" y="6238261"/>
            <a:ext cx="155204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11 / 12</a:t>
            </a:r>
            <a:endParaRPr lang="en-US" sz="1200" dirty="0"/>
          </a:p>
        </p:txBody>
      </p:sp>
      <p:pic>
        <p:nvPicPr>
          <p:cNvPr id="7" name="Picture 6" descr="Image preview">
            <a:extLst>
              <a:ext uri="{FF2B5EF4-FFF2-40B4-BE49-F238E27FC236}">
                <a16:creationId xmlns:a16="http://schemas.microsoft.com/office/drawing/2014/main" id="{324A837A-76E2-F3D8-CEAA-70C5AF82C4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59"/>
          <a:stretch>
            <a:fillRect/>
          </a:stretch>
        </p:blipFill>
        <p:spPr>
          <a:xfrm>
            <a:off x="812800" y="1772887"/>
            <a:ext cx="8699993" cy="3613986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582A94C8-E8DC-8014-BB3B-671AD92DD63F}"/>
              </a:ext>
            </a:extLst>
          </p:cNvPr>
          <p:cNvSpPr/>
          <p:nvPr/>
        </p:nvSpPr>
        <p:spPr>
          <a:xfrm>
            <a:off x="902996" y="5386873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1, 2 , 3: Faysal Hossain Piyal</a:t>
            </a:r>
            <a:endParaRPr lang="en-US" sz="1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B6BB20D-B175-7AF5-982F-DE16C81F6879}"/>
              </a:ext>
            </a:extLst>
          </p:cNvPr>
          <p:cNvSpPr/>
          <p:nvPr/>
        </p:nvSpPr>
        <p:spPr>
          <a:xfrm>
            <a:off x="902996" y="5588632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4, 5: Abdullah </a:t>
            </a:r>
            <a:r>
              <a:rPr lang="en-US" sz="1400" b="1" dirty="0" err="1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Bawazir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A5E8693-C128-B805-E338-25D8935FC9DB}"/>
              </a:ext>
            </a:extLst>
          </p:cNvPr>
          <p:cNvSpPr/>
          <p:nvPr/>
        </p:nvSpPr>
        <p:spPr>
          <a:xfrm>
            <a:off x="902996" y="580531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Albaraa Sait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5100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826370"/>
            <a:ext cx="1088339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i="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812800" y="374712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FD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38261"/>
            <a:ext cx="15655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Tawlatna — 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wlatna — Project Presentation">
  <a:themeElements>
    <a:clrScheme name="Tawlatna — Project Presentation">
      <a:dk1>
        <a:srgbClr val="0F2E2F"/>
      </a:dk1>
      <a:lt1>
        <a:srgbClr val="FAF7F2"/>
      </a:lt1>
      <a:dk2>
        <a:srgbClr val="4A6060"/>
      </a:dk2>
      <a:lt2>
        <a:srgbClr val="E3E3DF"/>
      </a:lt2>
      <a:accent1>
        <a:srgbClr val="2A9D8F"/>
      </a:accent1>
      <a:accent2>
        <a:srgbClr val="6A7179"/>
      </a:accent2>
      <a:accent3>
        <a:srgbClr val="4A524F"/>
      </a:accent3>
      <a:accent4>
        <a:srgbClr val="CFD8D7"/>
      </a:accent4>
      <a:accent5>
        <a:srgbClr val="8A9290"/>
      </a:accent5>
      <a:accent6>
        <a:srgbClr val="9AA0A6"/>
      </a:accent6>
      <a:hlink>
        <a:srgbClr val="0563C1"/>
      </a:hlink>
      <a:folHlink>
        <a:srgbClr val="954F72"/>
      </a:folHlink>
    </a:clrScheme>
    <a:fontScheme name="Tawlatna — Project Presen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980</Words>
  <Application>Microsoft Office PowerPoint</Application>
  <PresentationFormat>Widescreen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Tawlatna — Project Presentation</vt:lpstr>
      <vt:lpstr>Tawlatna</vt:lpstr>
      <vt:lpstr>Problem to be Solved</vt:lpstr>
      <vt:lpstr>Market Study — Feasibility (1/2)</vt:lpstr>
      <vt:lpstr>Market Study — Feasibility (2/2)</vt:lpstr>
      <vt:lpstr>PowerPoint Presentation</vt:lpstr>
      <vt:lpstr>Personas</vt:lpstr>
      <vt:lpstr>Requirements &amp; Elicitation Methods (1/2)</vt:lpstr>
      <vt:lpstr>Requirements &amp; Elicitation Methods (2/2)</vt:lpstr>
      <vt:lpstr>Use Case Titles</vt:lpstr>
      <vt:lpstr>Context Diagram</vt:lpstr>
      <vt:lpstr>Project Management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Tawlatna — Project Presentation</dc:title>
  <dc:subject/>
  <dc:creator/>
  <cp:lastModifiedBy>Faysal Piyal</cp:lastModifiedBy>
  <cp:revision>5</cp:revision>
  <dcterms:created xsi:type="dcterms:W3CDTF">2026-10-12T16:34:12Z</dcterms:created>
  <dcterms:modified xsi:type="dcterms:W3CDTF">2026-10-14T09:00:39Z</dcterms:modified>
</cp:coreProperties>
</file>